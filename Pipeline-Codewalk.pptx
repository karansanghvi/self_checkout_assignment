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22a0077-c6f9-99da-48fc-1aedf343b38e}">
          <p14:sldIdLst>
            <p14:sldId id="256"/>
            <p14:sldId id="257"/>
          </p14:sldIdLst>
        </p14:section>
        <p14:section name="Architecture &amp; Design" id="{4fe2130f-8a14-a244-7f71-def4f0a41ccc}">
          <p14:sldIdLst>
            <p14:sldId id="258"/>
            <p14:sldId id="259"/>
            <p14:sldId id="260"/>
          </p14:sldIdLst>
        </p14:section>
        <p14:section name="Code Walkthrough" id="{73dd602a-6031-fab6-6c8a-b23cda41b06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sults &amp; Reflections" id="{74dbac03-b0fd-b932-5817-70bf3430fc2a}">
          <p14:sldIdLst>
            <p14:sldId id="269"/>
            <p14:sldId id="270"/>
            <p14:sldId id="271"/>
          </p14:sldIdLst>
        </p14:section>
        <p14:section name="Close" id="{c5c56080-3fcc-d0a1-d299-3c16464bbe6d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2F"/>
                </a:solidFill>
                <a:latin typeface="+mn-lt"/>
              </a:rPr>
              <a:t>Throughput (scans / sec)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 (layered)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Default run</c:v>
                  </c:pt>
                  <c:pt idx="1">
                    <c:v>Stress run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10320</c:v>
                </c:pt>
                <c:pt idx="1">
                  <c:v>8967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3 (pipeline)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Default run</c:v>
                  </c:pt>
                  <c:pt idx="1">
                    <c:v>Stress run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11330</c:v>
                </c:pt>
                <c:pt idx="1">
                  <c:v>9442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3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3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Self-Checkout System  ·  Pipeline Codewalk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Pipelining the Popular-Items Analytics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Self-Checkout System  ·  Assignment 3 Codewalk  ·  Karan Sanghvi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933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83464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743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Architecture &amp; Design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Where the pipeline sits in the system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Filters, pipes and data flow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Key decisions and trade-offs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82880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933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2940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743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Code Walkthrough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Request flow from the scan endpoint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Filter, Pipe and WindowFilter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Patterns, error handling, windowing &amp; persistence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58200" y="182880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9933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42416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03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27432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Results &amp; Reflections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429000"/>
            <a:ext cx="29718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Load-test results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Challenges and how they were solved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Future improvements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architecture: layered, with one pipelined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(controllers)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140817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40817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TransactionController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0598" y="140817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30598" y="140817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CatalogController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2317" y="140817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2317" y="140817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InventoryController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54035" y="140817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54035" y="140817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AnalyticsController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915754" y="140817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15754" y="140817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AdminController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2402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240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Business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68880" y="236829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236829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TransactionService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30598" y="236829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30598" y="236829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CatalogService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2317" y="236829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92317" y="236829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LowStockService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4035" y="236829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54035" y="236829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PopularityService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15754" y="236829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15754" y="236829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ResetService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200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2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2004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Popularity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Pipeline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3328416"/>
            <a:ext cx="2194560" cy="521208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68880" y="3328416"/>
            <a:ext cx="21945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① window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3589020"/>
            <a:ext cx="120243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57316" y="3328416"/>
            <a:ext cx="2194560" cy="521208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57316" y="3328416"/>
            <a:ext cx="21945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② rank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97596" y="3589020"/>
            <a:ext cx="1202436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445752" y="3328416"/>
            <a:ext cx="2194560" cy="521208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45752" y="3328416"/>
            <a:ext cx="2194560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③ persist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16052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160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Persistence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(JdbcTemplate)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468880" y="428853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468880" y="428853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ItemRepository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30598" y="428853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30598" y="428853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TransactionRepository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2317" y="428853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92317" y="428853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InventoryRepository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54035" y="428853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54035" y="428853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PopularityRepository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15754" y="4288536"/>
            <a:ext cx="1724558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15754" y="4288536"/>
            <a:ext cx="1724558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ResetRepository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5120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Storage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468880" y="5248656"/>
            <a:ext cx="9171432" cy="521208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468880" y="5248656"/>
            <a:ext cx="917143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18  ·  schema via Flyway migrations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pipeline: three filters joined by three pipes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371600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3716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Scan requests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(HTTP threads)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71800" y="16916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71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Window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606040"/>
            <a:ext cx="1737360" cy="1783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44368" y="2715768"/>
            <a:ext cx="15544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Ring buffer of the last 1,000 SKUs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500 scans, copies the window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emits  </a:t>
            </a:r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WindowSnapshot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6916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Rank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77840" y="2606040"/>
            <a:ext cx="1737360" cy="1783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87568" y="2715768"/>
            <a:ext cx="15544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Counts scans per SKU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Sorts count ↓, SKU ↑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Keeps the top 50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emits  </a:t>
            </a:r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RankedWindow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16916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Persist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321040" y="2606040"/>
            <a:ext cx="1737360" cy="1783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30768" y="2715768"/>
            <a:ext cx="15544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Saves window + entries in one DB transaction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Sink of the pipeline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4480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emits  </a:t>
            </a:r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rows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607040" y="1417320"/>
            <a:ext cx="1033272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07040" y="1417320"/>
            <a:ext cx="103327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Postgres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965960" y="1920240"/>
            <a:ext cx="822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874520" y="26060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65,536 slots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drop newest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1920240"/>
            <a:ext cx="9144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526280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windows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slots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drop oldest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1920240"/>
            <a:ext cx="9144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269480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ranked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slots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drop oldest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104120" y="1920240"/>
            <a:ext cx="457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58968"/>
            <a:ext cx="237744" cy="23774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14300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thread per filter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343400" y="534924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5458968"/>
            <a:ext cx="237744" cy="237744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493776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Pipes are bounded ArrayBlockingQueues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8138160" y="534924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5458968"/>
            <a:ext cx="237744" cy="237744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73252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Reset / Stop travel through the same pipes as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design decisions and trade-offs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6811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4284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4187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Pipeline only the analytics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Collect → count → save is naturally staged; checkout stays request/response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Trade-off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Two architectural styles in one codebase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46811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60020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7428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600200"/>
            <a:ext cx="4187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Non-blocking entry pipe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37744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Checkout latency never depends on analytics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92608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Trade-off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Under extreme overload a scan is dropped (counted, logged; 0 in all runs)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546811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2117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069080"/>
            <a:ext cx="4187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Snapshot pipes drop the oldest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484632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newer window makes an older one obsolete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39496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Trade-off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the DB stalls, some hops are skipped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172200" y="3794760"/>
            <a:ext cx="546811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406908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421172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23760" y="4069080"/>
            <a:ext cx="4187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Control messages in-band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84632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Reset and Stop stay ordered with the data they follow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446520" y="539496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Trade-off 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/admin/reset waits for the pipeline to drain (≤ 10 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Entry point: tracing one scan through the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SelfCheckoutApplication.main()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73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Spring builds PopularityPipeline; @PostConstruct starts 3 threads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/transactions/{id}/items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78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TransactionController receives the scan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26664"/>
            <a:ext cx="457200" cy="45720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35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TransactionService.scan()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82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Validates SKU, one DB round trip updates the basket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457200" cy="45720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7398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PopularityService.recordScan()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087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Facade: the only door into analytics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44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PopularityPipeline.submit()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892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scanPipe.send(sku): a non-blocking offer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349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returned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696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Window → rank → persist continue on pipeline threads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1325880"/>
            <a:ext cx="5376672" cy="4800600"/>
          </a:xfrm>
          <a:prstGeom prst="roundRect">
            <a:avLst>
              <a:gd name="adj" fmla="val 152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1508760"/>
            <a:ext cx="49194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TransactionService.scan(...)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ScanTotals totals = transactionRepository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.recordScan(id, sku, item.price());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popularityService.recordScan(sku);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new ScanResult(...);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PopularityService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recordScan(String sku)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pipeline.submit(sku);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PopularityPipeline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submit(String sku)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scanPipe.send(sku);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never blocks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class 1: Filter, the loop every stage shares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00800" cy="4800600"/>
          </a:xfrm>
          <a:prstGeom prst="roundRect">
            <a:avLst>
              <a:gd name="adj" fmla="val 152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Filter.java  (simplified)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void run()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(input.take())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Message.Data&lt;I&gt; d -&gt;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process(d.payload());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Message.Reset&lt;I&gt; r -&gt;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onReset();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(output == null) r.done().countDown();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else forward(new Message.Reset&lt;&gt;(r.done()));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case Message.Stop&lt;I&gt; st -&gt;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(output != null) forward(new Message.Stop&lt;&gt;());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1325880"/>
            <a:ext cx="4370832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69480" y="1325880"/>
            <a:ext cx="437083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Filter&lt;I, O&gt;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828800"/>
            <a:ext cx="0" cy="152704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212848"/>
            <a:ext cx="2743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011680"/>
            <a:ext cx="3867912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2011680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WindowFilter </a:t>
            </a:r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&lt;String, WindowSnapshot&gt;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2761488"/>
            <a:ext cx="2743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560320"/>
            <a:ext cx="3867912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2560320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RankFilter </a:t>
            </a:r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&lt;WindowSnapshot, RankedWindow&gt;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3310128"/>
            <a:ext cx="2743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3108960"/>
            <a:ext cx="3867912" cy="4114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108960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PersistFilter </a:t>
            </a:r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&lt;RankedWindow, Void&gt;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794760"/>
            <a:ext cx="43708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run() is final: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loop is fixed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270248"/>
            <a:ext cx="43708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Subclasses only fill in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process()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onReset()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745736"/>
            <a:ext cx="43708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Sealed Message: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switch is compiler-checked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5221224"/>
            <a:ext cx="43708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thread per filter: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its state needs no locks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5696712"/>
            <a:ext cx="43708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failing payload is logged;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stage keeps running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class 2: Pipe, the queue and its overflow policy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DROP_NEWEST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scans pipe · 65,536 slots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Refuses the incoming scan, so the request thread returns immediately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DROP_OLDEST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windows &amp; ranked pipes · 4 slots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Evicts the oldest snapshot; the newer one supersedes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messages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754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Reset · Stop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257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Never dropped: dropOldestData() skips them, sendControl() waits up to a timeout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5376672" cy="3246120"/>
          </a:xfrm>
          <a:prstGeom prst="roundRect">
            <a:avLst>
              <a:gd name="adj" fmla="val 2254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46304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Pipe.java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83080"/>
            <a:ext cx="4919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send(T payload)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Message&lt;T&gt; m = new Message.Data&lt;&gt;(payload);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(queue.offer(m))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(overflow == Overflow.DROP_OLDEST)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(dropOldestData())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skips Reset/Stop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(queue.offer(m))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recordDrop();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LongAdder + warn log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709160"/>
            <a:ext cx="5376672" cy="1417320"/>
          </a:xfrm>
          <a:prstGeom prst="roundRect">
            <a:avLst>
              <a:gd name="adj" fmla="val 5161"/>
            </a:avLst>
          </a:prstGeom>
          <a:solidFill>
            <a:schemeClr val="accent1">
              <a:alpha val="25000"/>
            </a:schemeClr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47091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never blocks.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Only control messages wait for room, and only up to a timeout.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Popular items, part 1: the hopping window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#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737360" y="1600200"/>
            <a:ext cx="96926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527048"/>
            <a:ext cx="0" cy="146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527048"/>
            <a:ext cx="0" cy="146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527048"/>
            <a:ext cx="0" cy="146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1,000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06840" y="1527048"/>
            <a:ext cx="0" cy="146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4108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1,500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0" y="1527048"/>
            <a:ext cx="0" cy="146304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06424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2,000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hop @ 500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1783080"/>
            <a:ext cx="2423160" cy="347472"/>
          </a:xfrm>
          <a:prstGeom prst="roundRect">
            <a:avLst>
              <a:gd name="adj" fmla="val 1315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1783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window (0, 500]  ·  500 scans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185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hop @ 1,000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2185416"/>
            <a:ext cx="4846320" cy="347472"/>
          </a:xfrm>
          <a:prstGeom prst="roundRect">
            <a:avLst>
              <a:gd name="adj" fmla="val 1315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37360" y="21854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window (0, 1,000]  ·  1000 scans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587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hop @ 1,500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2587752"/>
            <a:ext cx="4846320" cy="347472"/>
          </a:xfrm>
          <a:prstGeom prst="roundRect">
            <a:avLst>
              <a:gd name="adj" fmla="val 13158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60520" y="25877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window (500, 1,500]  ·  1000 scans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9900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hop @ 2,000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2990088"/>
            <a:ext cx="4846320" cy="347472"/>
          </a:xfrm>
          <a:prstGeom prst="roundRect">
            <a:avLst>
              <a:gd name="adj" fmla="val 13158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299008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window (1,000, 2,000]  ·  1000 scans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640080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703320"/>
            <a:ext cx="5943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WindowFilter.process(String sku)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ring[(int) (sequence % windowSize)] = sku;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sequence++;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(sequence % slideInterval == 0)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valid = (int) Math.min(sequence, windowSize);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emit(new WindowSnapshot(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Math.max(0, sequence - windowSize),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sequence,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Arrays.copyOf(ring, valid)));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3566160"/>
            <a:ext cx="4370832" cy="6515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windowSize = 1000, slideInterval = 500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(application.yml)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217670"/>
            <a:ext cx="4370832" cy="6515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Counts scans,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 purchases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869180"/>
            <a:ext cx="4370832" cy="6515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Ring index = sequence % 1000: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O(1) per scan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5520690"/>
            <a:ext cx="4370832" cy="65151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Copied at the exact 500th scan,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 bounds are exact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Popular items, part 2: ranking and persistence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WRITE PATH  ·  pipeline threads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WindowSnapshot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1,000 SKUs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9736" y="1920240"/>
            <a:ext cx="35661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52928" y="1508760"/>
            <a:ext cx="187452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Count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HashMap&lt;sku, n&gt;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64024" y="1920240"/>
            <a:ext cx="35661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7216" y="1508760"/>
            <a:ext cx="187452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57216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count ↓, SKU 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68312" y="1920240"/>
            <a:ext cx="35661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61504" y="1508760"/>
            <a:ext cx="187452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61504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Top 50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RankedWindow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72600" y="1920240"/>
            <a:ext cx="35661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65792" y="1508760"/>
            <a:ext cx="1874520" cy="82296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65792" y="1508760"/>
            <a:ext cx="1874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saveWindow()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@Transactional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06040"/>
            <a:ext cx="5120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697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popular_item_windows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1546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BIGSERIAL PK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window_start, window_end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window_size, slide_interval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computed_at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19672" y="2606040"/>
            <a:ext cx="512064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48272" y="2697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popular_item_entries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31546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window_id  FK → windows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 (PK with window_id)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  FK → items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scan_count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0" y="3538728"/>
            <a:ext cx="75895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669280" y="3108960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 → 50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READ PATH  ·  HTTP thread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25146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983480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GET /analytics/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popular-items?limit=10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99816" y="539496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410712" y="4983480"/>
            <a:ext cx="25146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0712" y="4983480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findLatestWindow()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id DESC LIMIT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61888" y="539496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72784" y="4983480"/>
            <a:ext cx="25146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72784" y="4983480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findEntries(id, limit)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rank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23960" y="5394960"/>
            <a:ext cx="2743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34856" y="4983480"/>
            <a:ext cx="2514600" cy="8229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34856" y="4983480"/>
            <a:ext cx="25146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JSON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 names from catalog cache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Design patterns in practice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7881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Pattern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it shows up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Pipes and Filters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analytics/pipeline/*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Three independent stages connected only through Pipe objects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Producer–Consumer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 (ArrayBlockingQueue)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filter consumes from one queue and produces into the next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Template Method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Filter.run()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Fixed take → process → emit loop; subclasses fill process() / onReset()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Facade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PopularityService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rest of the app only calls recordScan(), reset(), popularItems()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Poison Pill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Message.Stop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thread forwards Stop downstream, then exits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Strategy (policy)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Pipe.Overflow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DROP_NEWEST or DROP_OLDEST chosen per pipe at wiring time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Thread confinement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WindowFilter, RankFilter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State owned by one thread: no locks, one volatile for readers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Error handling and edge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112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002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DB failure in persist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Exception caught per message and logged; the stage keeps running (unit-tested)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325880"/>
            <a:ext cx="35112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60020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1731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6002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Full queues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33172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Shed load per policy, LongAdder drop counter, warning log; checkout is never blocked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0" y="1325880"/>
            <a:ext cx="35112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160020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154" y="17318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6002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Concurrency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33172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state shared between filters; volatile sequence for readers; ordered control messages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112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2007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069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Reset mid-stream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Reset travels in order and is acknowledged by the sink before the DB is reseeded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343400" y="3794760"/>
            <a:ext cx="35112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394" y="42007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69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Shutdown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80060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 pill + join(); threads are interrupted if a pipe stays full past the timeout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38160" y="3794760"/>
            <a:ext cx="3511296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12480" y="40690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4" y="420075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98280" y="4069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Invalid input &amp; config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4800600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Unknown SKU → 404 {error, message}; sizes clamped to ≥ 1; before the first hop, an empty ranking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Concurrency in detail: the reset handshake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03120" cy="86868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ResetService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.reset()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97480" y="180594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2651760" y="1325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Reset(latch)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1031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Window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clears ring, seq = 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80594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532120" y="1325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Reset(latch)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103120" cy="86868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Rank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forwards Reset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180594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412480" y="1325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Reset(latch)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1371600"/>
            <a:ext cx="2103120" cy="86868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371600"/>
            <a:ext cx="2103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Persist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latch.countDown()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41280" y="2240280"/>
            <a:ext cx="0" cy="4114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600200" y="2651760"/>
            <a:ext cx="86410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600200" y="2267712"/>
            <a:ext cx="0" cy="384048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42900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latch released → await() returns: nothing from the old run is still in flight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539496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The race it prevents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931920"/>
            <a:ext cx="4892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snapshot already in the pipe could be saved after the tables were truncated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That stale window would then be served as the new run's popular items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Fix: drain the pipeline first, then reseed, then reload the catalog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3246120"/>
            <a:ext cx="5376672" cy="2880360"/>
          </a:xfrm>
          <a:prstGeom prst="roundRect">
            <a:avLst>
              <a:gd name="adj" fmla="val 254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429000"/>
            <a:ext cx="4919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ResetService.reset(...)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popularityService.reset();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drain first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resetRepository.reseed(catalogSize,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stockPerItem);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catalogService.reload();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order verified with Mockito InOrder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Load-test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680K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scans in the default run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stations · 60 s · 0 errors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554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1.13M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scans in the stress run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100 stations · 120 s · 0 errors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023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3,626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windows persisted: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hop (scans ÷ 500)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3794760"/>
            <a:ext cx="26060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40233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messages dropped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by any pipe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63640" y="1280160"/>
          <a:ext cx="5376672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43400"/>
          <a:ext cx="5376672" cy="914400"/>
        </p:xfrm>
        <a:graphic>
          <a:graphicData uri="http://schemas.openxmlformats.org/drawingml/2006/table">
            <a:tbl>
              <a:tblPr/>
              <a:tblGrid>
                <a:gridCol w="1170432"/>
                <a:gridCol w="1051560"/>
                <a:gridCol w="1051560"/>
                <a:gridCol w="105156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p99 (ms)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Wk 2 default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Wk 3 default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Wk 2 stress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Wk 3 stress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Scan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1.28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0.97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16.61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15.50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19.19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16.10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213.55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203.39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4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263640" y="580644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Stock invariants verified after both runs: 0 violating rows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Challenges and how they were resolved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CHALLENGE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9377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Stale snapshot could land after /admin/reset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50408" y="1975104"/>
            <a:ext cx="5394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53912" y="1600200"/>
            <a:ext cx="5486400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82512" y="160020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In-band Reset with latch acknowledgement; drain before reseed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49377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8716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Drop-oldest could evict a Reset or Stop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50408" y="2862072"/>
            <a:ext cx="5394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53912" y="2487168"/>
            <a:ext cx="5486400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48716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dropOldestData() skips control messages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49377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37413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Old design copied the window late (extra scans)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50408" y="3749040"/>
            <a:ext cx="5394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53912" y="3374136"/>
            <a:ext cx="5486400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37413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Copy taken at the exact scan that closes the hop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49377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26110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Keep the week-2 layered architecture intact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550408" y="4636008"/>
            <a:ext cx="5394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53912" y="4261104"/>
            <a:ext cx="5486400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2512" y="426110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Facade over the pipeline; ArchUnit layering tests still pass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148072"/>
            <a:ext cx="49377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14807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Load client needs JDK 21 (virtual threads)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550408" y="5522976"/>
            <a:ext cx="53949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53912" y="5148072"/>
            <a:ext cx="5486400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5000"/>
            </a:schemeClr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514807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 with java_home -v 21; JDK 17 is the default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2763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Pipeline metrics endpoint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Expose queue depth and drop counts via Actuator / Micrometer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3640" y="146304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6276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4173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Incremental counting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7804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the entering 500 and subtract the leaving 500 instead of recounting 1,000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2783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0175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Configurable pipes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474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Capacities and overflow policies set in application.yml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263640" y="306324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22783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30175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Lighter persistence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7178040" y="3474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Batch inserts and skip hops whose ranking did not change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82803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6177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External messaging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50749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Kafka-style broker so several server instances share one window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263640" y="4663440"/>
            <a:ext cx="685800" cy="6858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8280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78040" y="46177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More analytics as filters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7178040" y="50749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Low-stock alerts as a second branch fed by completed transactions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Codewalk">
  <a:themeElements>
    <a:clrScheme name="Pipeline Codewalk">
      <a:dk1>
        <a:srgbClr val="1E2328"/>
      </a:dk1>
      <a:lt1>
        <a:srgbClr val="FFFFFF"/>
      </a:lt1>
      <a:dk2>
        <a:srgbClr val="10302F"/>
      </a:dk2>
      <a:lt2>
        <a:srgbClr val="EEF4F3"/>
      </a:lt2>
      <a:accent1>
        <a:srgbClr val="F2A541"/>
      </a:accent1>
      <a:accent2>
        <a:srgbClr val="2A9D8F"/>
      </a:accent2>
      <a:accent3>
        <a:srgbClr val="E76F51"/>
      </a:accent3>
      <a:accent4>
        <a:srgbClr val="264653"/>
      </a:accent4>
      <a:accent5>
        <a:srgbClr val="8AB17D"/>
      </a:accent5>
      <a:accent6>
        <a:srgbClr val="6C757D"/>
      </a:accent6>
      <a:hlink>
        <a:srgbClr val="2A9D8F"/>
      </a:hlink>
      <a:folHlink>
        <a:srgbClr val="264653"/>
      </a:folHlink>
    </a:clrScheme>
    <a:fontScheme name="Pipeline Codewal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Pipelining the Popular-Items Analytics</dc:title>
  <dc:subject>PptxGenJS Presentation</dc:subject>
  <dc:creator>Karan Sanghvi</dc:creator>
  <cp:lastModifiedBy>Karan Sanghvi</cp:lastModifiedBy>
  <cp:revision>1</cp:revision>
  <dcterms:created xsi:type="dcterms:W3CDTF">2026-10-04T21:15:32Z</dcterms:created>
  <dcterms:modified xsi:type="dcterms:W3CDTF">2026-10-04T21:15:32Z</dcterms:modified>
</cp:coreProperties>
</file>